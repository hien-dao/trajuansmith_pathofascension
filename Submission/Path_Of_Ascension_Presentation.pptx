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 Medium"/>
      <p:regular r:id="rId19"/>
      <p:bold r:id="rId20"/>
      <p:italic r:id="rId21"/>
      <p:boldItalic r:id="rId22"/>
    </p:embeddedFont>
    <p:embeddedFont>
      <p:font typeface="Cinzel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italic.fntdata"/><Relationship Id="rId13" Type="http://schemas.openxmlformats.org/officeDocument/2006/relationships/slide" Target="slides/slide8.xml"/><Relationship Id="rId24" Type="http://schemas.openxmlformats.org/officeDocument/2006/relationships/font" Target="fonts/Cinzel-bold.fntdata"/><Relationship Id="rId12" Type="http://schemas.openxmlformats.org/officeDocument/2006/relationships/slide" Target="slides/slide7.xml"/><Relationship Id="rId23" Type="http://schemas.openxmlformats.org/officeDocument/2006/relationships/font" Target="fonts/Cinzel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Medium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ba627621834f07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ba627621834f07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ba627621834f07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ba627621834f07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ba627621834f07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ba627621834f07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ba627621834f07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ba627621834f07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ba627621834f07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ba627621834f07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ba627621834f07f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ba627621834f07f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ba627621834f07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ba627621834f07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ba627621834f07f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ba627621834f07f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72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615050" y="1299088"/>
            <a:ext cx="5913900" cy="89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D4B477"/>
                </a:solidFill>
                <a:latin typeface="Cinzel"/>
                <a:ea typeface="Cinzel"/>
                <a:cs typeface="Cinzel"/>
                <a:sym typeface="Cinzel"/>
              </a:rPr>
              <a:t>Path of Ascension</a:t>
            </a:r>
            <a:endParaRPr b="1" sz="4500">
              <a:solidFill>
                <a:srgbClr val="D4B477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147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Project 1 — Quest Explorer</a:t>
            </a:r>
            <a:endParaRPr sz="25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760300" y="3089100"/>
            <a:ext cx="362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HTML &amp; CSS Website Showcase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760300" y="868000"/>
            <a:ext cx="41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5CD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CSC 4370 — WEB PROGRAMMING</a:t>
            </a:r>
            <a:endParaRPr sz="1600">
              <a:solidFill>
                <a:srgbClr val="75CDE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202700" y="2861725"/>
            <a:ext cx="6738600" cy="78000"/>
          </a:xfrm>
          <a:prstGeom prst="roundRect">
            <a:avLst>
              <a:gd fmla="val 16667" name="adj"/>
            </a:avLst>
          </a:prstGeom>
          <a:solidFill>
            <a:srgbClr val="D4B477"/>
          </a:solidFill>
          <a:ln cap="flat" cmpd="sng" w="9525">
            <a:solidFill>
              <a:srgbClr val="D4B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3108000" y="3654225"/>
            <a:ext cx="292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5CD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Hien Dao &amp; Trajuan Smith</a:t>
            </a:r>
            <a:endParaRPr sz="1600">
              <a:solidFill>
                <a:srgbClr val="75CDE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726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4294967295" type="subTitle"/>
          </p:nvPr>
        </p:nvSpPr>
        <p:spPr>
          <a:xfrm>
            <a:off x="2132550" y="126400"/>
            <a:ext cx="48789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D4B47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Project Purpose &amp; Audience</a:t>
            </a:r>
            <a:endParaRPr sz="2500">
              <a:solidFill>
                <a:srgbClr val="D4B47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178950" y="774525"/>
            <a:ext cx="8786100" cy="78000"/>
          </a:xfrm>
          <a:prstGeom prst="roundRect">
            <a:avLst>
              <a:gd fmla="val 16667" name="adj"/>
            </a:avLst>
          </a:prstGeom>
          <a:solidFill>
            <a:srgbClr val="D4B477"/>
          </a:solidFill>
          <a:ln cap="flat" cmpd="sng" w="9525">
            <a:solidFill>
              <a:srgbClr val="D4B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49250" y="1157225"/>
            <a:ext cx="4041600" cy="24924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701250" y="1157225"/>
            <a:ext cx="4041600" cy="24924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462900" y="1370875"/>
            <a:ext cx="3658800" cy="2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Purpose</a:t>
            </a:r>
            <a:endParaRPr sz="1800">
              <a:solidFill>
                <a:srgbClr val="75CDE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CDE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Create an immersive cultivation-themed adventure experience where visitors can: 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Explore fantasy regions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Discover available missions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a journey toward ascension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203075" y="3954325"/>
            <a:ext cx="7458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4B4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Our goal: Make exploring a cultivation world intuitive, engaging, and accessible</a:t>
            </a:r>
            <a:endParaRPr>
              <a:solidFill>
                <a:srgbClr val="D4B47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892650" y="1335338"/>
            <a:ext cx="3658800" cy="2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Target Audience</a:t>
            </a:r>
            <a:endParaRPr sz="1800">
              <a:solidFill>
                <a:srgbClr val="75CDE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Designed for: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Fans of xianxia and cultivation stories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Fantasy and adventure enthusiasts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Visitors interested in interactive quest exploration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726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4294967295" type="subTitle"/>
          </p:nvPr>
        </p:nvSpPr>
        <p:spPr>
          <a:xfrm>
            <a:off x="1619100" y="117525"/>
            <a:ext cx="59058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D4B47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Quest Explorer &amp; Adventure Pack</a:t>
            </a:r>
            <a:r>
              <a:rPr lang="en" sz="2500">
                <a:solidFill>
                  <a:srgbClr val="D4B47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500">
              <a:solidFill>
                <a:srgbClr val="D4B47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178950" y="774525"/>
            <a:ext cx="8786100" cy="78000"/>
          </a:xfrm>
          <a:prstGeom prst="roundRect">
            <a:avLst>
              <a:gd fmla="val 16667" name="adj"/>
            </a:avLst>
          </a:prstGeom>
          <a:solidFill>
            <a:srgbClr val="D4B477"/>
          </a:solidFill>
          <a:ln cap="flat" cmpd="sng" w="9525">
            <a:solidFill>
              <a:srgbClr val="D4B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249250" y="1157225"/>
            <a:ext cx="4041600" cy="24924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701250" y="1157225"/>
            <a:ext cx="4041600" cy="24924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462900" y="1370875"/>
            <a:ext cx="3658800" cy="2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Quest Explorer Track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Four interconnected pages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Region exploration and mission details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Consistent navigation and status indicators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Responsive layouts using CSS Grid and Flexbox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94350" y="3961325"/>
            <a:ext cx="8394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4B4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Together, these features turn a static website into a guided fantasy adventure experience</a:t>
            </a:r>
            <a:endParaRPr>
              <a:solidFill>
                <a:srgbClr val="D4B47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892650" y="1335338"/>
            <a:ext cx="3658800" cy="2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Adventure Pack Extension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Journey timeline with checkpoint states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Available, ongoing, completed, and locked styling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Motion cues to emphasize progression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Visual feedback for exploration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726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4294967295" type="subTitle"/>
          </p:nvPr>
        </p:nvSpPr>
        <p:spPr>
          <a:xfrm>
            <a:off x="1619100" y="117525"/>
            <a:ext cx="59058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D4B47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Website Structure &amp; Navigation</a:t>
            </a:r>
            <a:endParaRPr sz="2500">
              <a:solidFill>
                <a:srgbClr val="D4B47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78950" y="774525"/>
            <a:ext cx="8786100" cy="78000"/>
          </a:xfrm>
          <a:prstGeom prst="roundRect">
            <a:avLst>
              <a:gd fmla="val 16667" name="adj"/>
            </a:avLst>
          </a:prstGeom>
          <a:solidFill>
            <a:srgbClr val="D4B477"/>
          </a:solidFill>
          <a:ln cap="flat" cmpd="sng" w="9525">
            <a:solidFill>
              <a:srgbClr val="D4B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249250" y="1157225"/>
            <a:ext cx="4041600" cy="12729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614225" y="1219550"/>
            <a:ext cx="9435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Home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356000" y="4112650"/>
            <a:ext cx="6168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D4B4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Consistent navigation connects all four pages into one experience.</a:t>
            </a:r>
            <a:endParaRPr>
              <a:solidFill>
                <a:srgbClr val="D4B47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38250" y="1255175"/>
            <a:ext cx="493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4B4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01</a:t>
            </a:r>
            <a:endParaRPr>
              <a:solidFill>
                <a:srgbClr val="D4B47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29500" y="1682425"/>
            <a:ext cx="38811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Introduces the cultivation journey and guides visitors toward exploration.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424225" y="1157225"/>
            <a:ext cx="4380900" cy="12729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4819845" y="1219550"/>
            <a:ext cx="10227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World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4520698" y="1255175"/>
            <a:ext cx="534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4B4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</a:t>
            </a:r>
            <a:endParaRPr>
              <a:solidFill>
                <a:srgbClr val="D4B47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511213" y="1682425"/>
            <a:ext cx="4206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Displays explorable regions, difficulty levels, and available missions.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424225" y="2571750"/>
            <a:ext cx="4380900" cy="12729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4819845" y="2634075"/>
            <a:ext cx="10227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Team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4520698" y="2669700"/>
            <a:ext cx="534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4B4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04</a:t>
            </a:r>
            <a:endParaRPr>
              <a:solidFill>
                <a:srgbClr val="D4B47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4511213" y="3096950"/>
            <a:ext cx="4206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Introduces the cultivator, the developers and highlights their contributions</a:t>
            </a: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49250" y="2571750"/>
            <a:ext cx="4041600" cy="12729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644876" y="2634075"/>
            <a:ext cx="12858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Mission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345723" y="2669688"/>
            <a:ext cx="534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4B4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03</a:t>
            </a:r>
            <a:endParaRPr>
              <a:solidFill>
                <a:srgbClr val="D4B47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336238" y="3096938"/>
            <a:ext cx="4206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Provides mission details, objectives, and progression states</a:t>
            </a: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726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idx="4294967295" type="subTitle"/>
          </p:nvPr>
        </p:nvSpPr>
        <p:spPr>
          <a:xfrm>
            <a:off x="1619100" y="117525"/>
            <a:ext cx="62769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" sz="2513">
                <a:solidFill>
                  <a:srgbClr val="D4B47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HTML Structure &amp; File Organization</a:t>
            </a:r>
            <a:endParaRPr sz="2513">
              <a:solidFill>
                <a:srgbClr val="D4B47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178950" y="774525"/>
            <a:ext cx="8786100" cy="78000"/>
          </a:xfrm>
          <a:prstGeom prst="roundRect">
            <a:avLst>
              <a:gd fmla="val 16667" name="adj"/>
            </a:avLst>
          </a:prstGeom>
          <a:solidFill>
            <a:srgbClr val="D4B477"/>
          </a:solidFill>
          <a:ln cap="flat" cmpd="sng" w="9525">
            <a:solidFill>
              <a:srgbClr val="D4B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240350" y="943600"/>
            <a:ext cx="4041600" cy="33294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4469800" y="943650"/>
            <a:ext cx="4041600" cy="33294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431750" y="988125"/>
            <a:ext cx="3658800" cy="2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Path-of-Ascension/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index.html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world.html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mission.html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Team.html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CDE0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css/</a:t>
            </a:r>
            <a:endParaRPr sz="1200">
              <a:solidFill>
                <a:srgbClr val="75CDE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home.css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world.css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mission.css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team.css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5CDE0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images/</a:t>
            </a:r>
            <a:endParaRPr sz="1200">
              <a:solidFill>
                <a:srgbClr val="75CDE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1394100" y="4436125"/>
            <a:ext cx="6555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4B4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Modular styling keeps the website consistent and easier to maintain.</a:t>
            </a:r>
            <a:endParaRPr>
              <a:solidFill>
                <a:srgbClr val="D4B47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4661200" y="1041550"/>
            <a:ext cx="3658800" cy="2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Adventure Pack Extension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Semantic HTML5 structure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Shared CSS for consistent styling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Page-specific CSS files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Reusable navigation and components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Organized images and assets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700" y="1513325"/>
            <a:ext cx="316086" cy="2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700" y="1717025"/>
            <a:ext cx="316086" cy="2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700" y="1920725"/>
            <a:ext cx="316086" cy="2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752" y="1089312"/>
            <a:ext cx="316075" cy="29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249" y="2547928"/>
            <a:ext cx="218976" cy="2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249" y="3827753"/>
            <a:ext cx="218976" cy="2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700" y="2132475"/>
            <a:ext cx="316086" cy="2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488" y="2365838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2751625"/>
            <a:ext cx="316086" cy="2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2955325"/>
            <a:ext cx="316086" cy="2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3159025"/>
            <a:ext cx="316086" cy="2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3400450"/>
            <a:ext cx="316086" cy="2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3616125"/>
            <a:ext cx="316086" cy="2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726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4294967295" type="subTitle"/>
          </p:nvPr>
        </p:nvSpPr>
        <p:spPr>
          <a:xfrm>
            <a:off x="1041525" y="117525"/>
            <a:ext cx="72819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D4B47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CSS Layout, Responsiveness &amp; Animations </a:t>
            </a:r>
            <a:endParaRPr sz="2500">
              <a:solidFill>
                <a:srgbClr val="D4B47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178950" y="774525"/>
            <a:ext cx="8786100" cy="78000"/>
          </a:xfrm>
          <a:prstGeom prst="roundRect">
            <a:avLst>
              <a:gd fmla="val 16667" name="adj"/>
            </a:avLst>
          </a:prstGeom>
          <a:solidFill>
            <a:srgbClr val="D4B477"/>
          </a:solidFill>
          <a:ln cap="flat" cmpd="sng" w="9525">
            <a:solidFill>
              <a:srgbClr val="D4B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78800" y="1160725"/>
            <a:ext cx="2903400" cy="24924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1110375" y="3961325"/>
            <a:ext cx="71442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4B4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Responsive layouts and purposeful motion improve usability across devices</a:t>
            </a:r>
            <a:endParaRPr>
              <a:solidFill>
                <a:srgbClr val="D4B47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2237" y="1374375"/>
            <a:ext cx="476525" cy="5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141125" y="1889025"/>
            <a:ext cx="2617200" cy="1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</a:t>
            </a: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Grid &amp; Flexbox</a:t>
            </a:r>
            <a:endParaRPr sz="1800">
              <a:solidFill>
                <a:srgbClr val="75CDE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Region card layouts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Navigation alignment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Organized page sections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3120300" y="1160725"/>
            <a:ext cx="2903400" cy="24924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3182625" y="1889025"/>
            <a:ext cx="2903400" cy="1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</a:t>
            </a: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Responsive Design</a:t>
            </a:r>
            <a:endParaRPr sz="1800">
              <a:solidFill>
                <a:srgbClr val="75CDE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CSS media queries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Two-column to single-column layouts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Flexible spacing and sizing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6161800" y="1160725"/>
            <a:ext cx="2903400" cy="24924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6224125" y="1889025"/>
            <a:ext cx="2617200" cy="1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  CSS Motion</a:t>
            </a:r>
            <a:endParaRPr sz="1800">
              <a:solidFill>
                <a:srgbClr val="75CDE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Hover transitions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Cultivation-themed effects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Visual interaction feedback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6150" y="1388913"/>
            <a:ext cx="394530" cy="48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6924" y="1374375"/>
            <a:ext cx="611613" cy="5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726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idx="4294967295" type="subTitle"/>
          </p:nvPr>
        </p:nvSpPr>
        <p:spPr>
          <a:xfrm>
            <a:off x="1619100" y="90825"/>
            <a:ext cx="59058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D4B47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Accessibility, Testing &amp; Debugging</a:t>
            </a:r>
            <a:endParaRPr sz="2500">
              <a:solidFill>
                <a:srgbClr val="D4B47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178950" y="694425"/>
            <a:ext cx="8786100" cy="78000"/>
          </a:xfrm>
          <a:prstGeom prst="roundRect">
            <a:avLst>
              <a:gd fmla="val 16667" name="adj"/>
            </a:avLst>
          </a:prstGeom>
          <a:solidFill>
            <a:srgbClr val="D4B477"/>
          </a:solidFill>
          <a:ln cap="flat" cmpd="sng" w="9525">
            <a:solidFill>
              <a:srgbClr val="D4B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240350" y="888600"/>
            <a:ext cx="4041600" cy="25920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431750" y="888600"/>
            <a:ext cx="36588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Before — Locked Link Issue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801975" y="4757500"/>
            <a:ext cx="8394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4B4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Accessibility improvement: Disabled-looking controls should not behave like active links.</a:t>
            </a:r>
            <a:endParaRPr sz="1200">
              <a:solidFill>
                <a:srgbClr val="D4B47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200" y="1335348"/>
            <a:ext cx="2112600" cy="9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200" y="2431250"/>
            <a:ext cx="3265000" cy="3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374300" y="2823050"/>
            <a:ext cx="3969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Locked control still appeared in keyboard navigation.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505425" y="888600"/>
            <a:ext cx="4041600" cy="25920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4696825" y="888600"/>
            <a:ext cx="36588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After — Noninteractive Span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4639375" y="2823050"/>
            <a:ext cx="3969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Locked control is no longer a keyboard Tab stop.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40350" y="3636725"/>
            <a:ext cx="8306700" cy="9885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0275" y="1359597"/>
            <a:ext cx="2112601" cy="992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0275" y="2431276"/>
            <a:ext cx="2112600" cy="4288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431750" y="3674775"/>
            <a:ext cx="50430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D4B4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Additional Accessibility &amp; Testing</a:t>
            </a:r>
            <a:endParaRPr sz="1600">
              <a:solidFill>
                <a:srgbClr val="D4B47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676525" y="4174125"/>
            <a:ext cx="15132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Keyboard focus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65" name="Google Shape;16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750" y="4211373"/>
            <a:ext cx="303800" cy="31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637100" y="4174125"/>
            <a:ext cx="15132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Responsive Grid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6597675" y="4174125"/>
            <a:ext cx="15132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Reduced motion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68" name="Google Shape;16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67215" y="4211374"/>
            <a:ext cx="214385" cy="3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83300" y="4232695"/>
            <a:ext cx="214375" cy="274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726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idx="4294967295" type="subTitle"/>
          </p:nvPr>
        </p:nvSpPr>
        <p:spPr>
          <a:xfrm>
            <a:off x="1201750" y="90825"/>
            <a:ext cx="63945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" sz="2513">
                <a:solidFill>
                  <a:srgbClr val="D4B47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Kanban Board &amp; Team Collaboration</a:t>
            </a:r>
            <a:endParaRPr sz="2513">
              <a:solidFill>
                <a:srgbClr val="D4B47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78950" y="694425"/>
            <a:ext cx="8786100" cy="78000"/>
          </a:xfrm>
          <a:prstGeom prst="roundRect">
            <a:avLst>
              <a:gd fmla="val 16667" name="adj"/>
            </a:avLst>
          </a:prstGeom>
          <a:solidFill>
            <a:srgbClr val="D4B477"/>
          </a:solidFill>
          <a:ln cap="flat" cmpd="sng" w="9525">
            <a:solidFill>
              <a:srgbClr val="D4B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240350" y="888600"/>
            <a:ext cx="8616900" cy="19599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76700" y="1217950"/>
            <a:ext cx="2532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Our Trello Kanban Board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20475" y="2964675"/>
            <a:ext cx="4005900" cy="19374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575" y="888600"/>
            <a:ext cx="4597576" cy="193748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320475" y="3042675"/>
            <a:ext cx="33381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Task Responsibilities</a:t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92100" y="3434475"/>
            <a:ext cx="32133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Hien Dao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-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Home Page &amp; Team Page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Trajuan Smith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-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World Page &amp; Mission Page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572000" y="2964675"/>
            <a:ext cx="4055400" cy="19599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199775" y="3042675"/>
            <a:ext cx="33381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Development Workflow</a:t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271400" y="3434475"/>
            <a:ext cx="32133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Track tasks using Trello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Work on separate Git branches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Merge completed features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Review shared navigation and styling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726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idx="4294967295" type="subTitle"/>
          </p:nvPr>
        </p:nvSpPr>
        <p:spPr>
          <a:xfrm>
            <a:off x="667650" y="117525"/>
            <a:ext cx="76557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D4B47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Challenges, Lessons &amp; Future Improvements</a:t>
            </a:r>
            <a:endParaRPr sz="2500">
              <a:solidFill>
                <a:srgbClr val="D4B47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78950" y="774525"/>
            <a:ext cx="8786100" cy="78000"/>
          </a:xfrm>
          <a:prstGeom prst="roundRect">
            <a:avLst>
              <a:gd fmla="val 16667" name="adj"/>
            </a:avLst>
          </a:prstGeom>
          <a:solidFill>
            <a:srgbClr val="D4B477"/>
          </a:solidFill>
          <a:ln cap="flat" cmpd="sng" w="9525">
            <a:solidFill>
              <a:srgbClr val="D4B4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78800" y="1018300"/>
            <a:ext cx="2903400" cy="30525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67650" y="1091050"/>
            <a:ext cx="15222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Challenges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254825" y="1798038"/>
            <a:ext cx="2780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Keyboard accessibility for locked regions.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78800" y="4175925"/>
            <a:ext cx="8986500" cy="8706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825" y="1114475"/>
            <a:ext cx="412825" cy="398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21"/>
          <p:cNvCxnSpPr/>
          <p:nvPr/>
        </p:nvCxnSpPr>
        <p:spPr>
          <a:xfrm>
            <a:off x="390200" y="2367775"/>
            <a:ext cx="2280600" cy="0"/>
          </a:xfrm>
          <a:prstGeom prst="straightConnector1">
            <a:avLst/>
          </a:prstGeom>
          <a:noFill/>
          <a:ln cap="flat" cmpd="sng" w="9525">
            <a:solidFill>
              <a:srgbClr val="74CC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1"/>
          <p:cNvSpPr txBox="1"/>
          <p:nvPr/>
        </p:nvSpPr>
        <p:spPr>
          <a:xfrm>
            <a:off x="254825" y="2446175"/>
            <a:ext cx="2780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Coordinating shared styles across pages. 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98" name="Google Shape;198;p21"/>
          <p:cNvCxnSpPr/>
          <p:nvPr/>
        </p:nvCxnSpPr>
        <p:spPr>
          <a:xfrm>
            <a:off x="390200" y="3188750"/>
            <a:ext cx="2280600" cy="0"/>
          </a:xfrm>
          <a:prstGeom prst="straightConnector1">
            <a:avLst/>
          </a:prstGeom>
          <a:noFill/>
          <a:ln cap="flat" cmpd="sng" w="9525">
            <a:solidFill>
              <a:srgbClr val="74CC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1"/>
          <p:cNvSpPr txBox="1"/>
          <p:nvPr/>
        </p:nvSpPr>
        <p:spPr>
          <a:xfrm>
            <a:off x="254825" y="3303775"/>
            <a:ext cx="2780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Building mission interactions without JavaScript.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094375" y="1032850"/>
            <a:ext cx="2903400" cy="30525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3810950" y="978725"/>
            <a:ext cx="15222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Lessons Learned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270400" y="1758613"/>
            <a:ext cx="2780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semantic HTML for correct behavior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03" name="Google Shape;203;p21"/>
          <p:cNvCxnSpPr/>
          <p:nvPr/>
        </p:nvCxnSpPr>
        <p:spPr>
          <a:xfrm>
            <a:off x="3405775" y="2382325"/>
            <a:ext cx="2280600" cy="0"/>
          </a:xfrm>
          <a:prstGeom prst="straightConnector1">
            <a:avLst/>
          </a:prstGeom>
          <a:noFill/>
          <a:ln cap="flat" cmpd="sng" w="9525">
            <a:solidFill>
              <a:srgbClr val="74CC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1"/>
          <p:cNvSpPr txBox="1"/>
          <p:nvPr/>
        </p:nvSpPr>
        <p:spPr>
          <a:xfrm>
            <a:off x="3270400" y="2460725"/>
            <a:ext cx="2780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Separate shared CSS from page-specific CSS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05" name="Google Shape;205;p21"/>
          <p:cNvCxnSpPr/>
          <p:nvPr/>
        </p:nvCxnSpPr>
        <p:spPr>
          <a:xfrm>
            <a:off x="3405775" y="3203300"/>
            <a:ext cx="2280600" cy="0"/>
          </a:xfrm>
          <a:prstGeom prst="straightConnector1">
            <a:avLst/>
          </a:prstGeom>
          <a:noFill/>
          <a:ln cap="flat" cmpd="sng" w="9525">
            <a:solidFill>
              <a:srgbClr val="74CC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1"/>
          <p:cNvSpPr txBox="1"/>
          <p:nvPr/>
        </p:nvSpPr>
        <p:spPr>
          <a:xfrm>
            <a:off x="3270400" y="3318325"/>
            <a:ext cx="2780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 with keyboard and mobile layouts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109950" y="1032850"/>
            <a:ext cx="2903400" cy="3052500"/>
          </a:xfrm>
          <a:prstGeom prst="roundRect">
            <a:avLst>
              <a:gd fmla="val 16667" name="adj"/>
            </a:avLst>
          </a:prstGeom>
          <a:solidFill>
            <a:srgbClr val="162C42"/>
          </a:solidFill>
          <a:ln cap="flat" cmpd="sng" w="9525">
            <a:solidFill>
              <a:srgbClr val="162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808700" y="1044425"/>
            <a:ext cx="1947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5CDE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Future Improvements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285975" y="1862825"/>
            <a:ext cx="2780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Persistent mission progress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0" name="Google Shape;210;p21"/>
          <p:cNvCxnSpPr/>
          <p:nvPr/>
        </p:nvCxnSpPr>
        <p:spPr>
          <a:xfrm>
            <a:off x="6421350" y="2382325"/>
            <a:ext cx="2280600" cy="0"/>
          </a:xfrm>
          <a:prstGeom prst="straightConnector1">
            <a:avLst/>
          </a:prstGeom>
          <a:noFill/>
          <a:ln cap="flat" cmpd="sng" w="9525">
            <a:solidFill>
              <a:srgbClr val="74CC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1"/>
          <p:cNvSpPr txBox="1"/>
          <p:nvPr/>
        </p:nvSpPr>
        <p:spPr>
          <a:xfrm>
            <a:off x="6285975" y="2460725"/>
            <a:ext cx="2780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Reusable navigation components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2" name="Google Shape;212;p21"/>
          <p:cNvCxnSpPr/>
          <p:nvPr/>
        </p:nvCxnSpPr>
        <p:spPr>
          <a:xfrm>
            <a:off x="6421350" y="3203300"/>
            <a:ext cx="2280600" cy="0"/>
          </a:xfrm>
          <a:prstGeom prst="straightConnector1">
            <a:avLst/>
          </a:prstGeom>
          <a:noFill/>
          <a:ln cap="flat" cmpd="sng" w="9525">
            <a:solidFill>
              <a:srgbClr val="74CC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21"/>
          <p:cNvSpPr txBox="1"/>
          <p:nvPr/>
        </p:nvSpPr>
        <p:spPr>
          <a:xfrm>
            <a:off x="6285975" y="3318325"/>
            <a:ext cx="2780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Expanded quests and region unlocking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14" name="Google Shape;2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5350" y="1154688"/>
            <a:ext cx="412825" cy="347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7925" y="1163000"/>
            <a:ext cx="398350" cy="39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3453550" y="4175925"/>
            <a:ext cx="2780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D4B47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Path Of Ascension</a:t>
            </a:r>
            <a:endParaRPr sz="1600">
              <a:solidFill>
                <a:srgbClr val="D4B47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1703500" y="4564350"/>
            <a:ext cx="58983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responsive, cultivation-themed Quest Explorer built with HTML and CSS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